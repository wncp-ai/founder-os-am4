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embeddedFontLst>
    <p:embeddedFont>
      <p:font typeface="Inter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hpZPg+LZkQrpKl3+v8DKXb2oWk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Inter-bold.fntdata"/><Relationship Id="rId14" Type="http://schemas.openxmlformats.org/officeDocument/2006/relationships/font" Target="fonts/Inter-regular.fntdata"/><Relationship Id="rId17" Type="http://schemas.openxmlformats.org/officeDocument/2006/relationships/font" Target="fonts/Inter-boldItalic.fntdata"/><Relationship Id="rId16" Type="http://schemas.openxmlformats.org/officeDocument/2006/relationships/font" Target="fonts/Inter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D1B04"/>
          </a:solidFill>
          <a:ln cap="flat" cmpd="sng" w="12700">
            <a:solidFill>
              <a:srgbClr val="BD1B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5943600" y="274320"/>
            <a:ext cx="36576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0"/>
              <a:buFont typeface="Inter"/>
              <a:buNone/>
            </a:pPr>
            <a:r>
              <a:rPr b="1" i="0" lang="en-US" sz="20000" u="none" cap="none" strike="noStrike">
                <a:solidFill>
                  <a:srgbClr val="2D2D2D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20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48640" y="1417320"/>
            <a:ext cx="68580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Inter"/>
              <a:buNone/>
            </a:pPr>
            <a:r>
              <a:rPr b="1" lang="en-US" sz="4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Customer </a:t>
            </a:r>
            <a:endParaRPr b="1" sz="4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Inter"/>
              <a:buNone/>
            </a:pPr>
            <a:r>
              <a:rPr b="1" lang="en-US" sz="4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Discovery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4640580"/>
            <a:ext cx="8229600" cy="18288"/>
          </a:xfrm>
          <a:prstGeom prst="rect">
            <a:avLst/>
          </a:prstGeom>
          <a:solidFill>
            <a:srgbClr val="2D2D2D"/>
          </a:solidFill>
          <a:ln cap="flat" cmpd="sng" w="12700">
            <a:solidFill>
              <a:srgbClr val="2D2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457200" y="466801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WNCP AI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9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D1B04"/>
          </a:solidFill>
          <a:ln cap="flat" cmpd="sng" w="12700">
            <a:solidFill>
              <a:srgbClr val="BD1B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1B04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BD1B04"/>
                </a:solidFill>
                <a:latin typeface="Inter"/>
                <a:ea typeface="Inter"/>
                <a:cs typeface="Inter"/>
                <a:sym typeface="Inter"/>
              </a:rPr>
              <a:t>WHY THIS MATTERS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457200" y="594360"/>
            <a:ext cx="42062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600"/>
              <a:buFont typeface="Inter"/>
              <a:buNone/>
            </a:pPr>
            <a:r>
              <a:rPr b="1" i="0" lang="en-US" sz="2600" u="none" cap="none" strike="noStrike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Most founders go into customer interviews hoping to confirm what they already believe.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457200" y="2697480"/>
            <a:ext cx="4206240" cy="1508760"/>
          </a:xfrm>
          <a:prstGeom prst="rect">
            <a:avLst/>
          </a:prstGeom>
          <a:solidFill>
            <a:srgbClr val="FDF3F2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457200" y="2697480"/>
            <a:ext cx="54864" cy="1508760"/>
          </a:xfrm>
          <a:prstGeom prst="rect">
            <a:avLst/>
          </a:prstGeom>
          <a:solidFill>
            <a:srgbClr val="BD1B04"/>
          </a:solidFill>
          <a:ln cap="flat" cmpd="sng" w="12700">
            <a:solidFill>
              <a:srgbClr val="BD1B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640080" y="2788920"/>
            <a:ext cx="38404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That is not discovery</a:t>
            </a:r>
            <a:r>
              <a:rPr i="1" lang="en-US" sz="1600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. I</a:t>
            </a:r>
            <a:r>
              <a:rPr b="0" i="1" lang="en-US" sz="1600" u="none" cap="none" strike="noStrike">
                <a:solidFill>
                  <a:srgbClr val="0A0A0A"/>
                </a:solidFill>
                <a:latin typeface="Calibri"/>
                <a:ea typeface="Calibri"/>
                <a:cs typeface="Calibri"/>
                <a:sym typeface="Calibri"/>
              </a:rPr>
              <a:t>t is pitching with extra steps.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937760" y="502920"/>
            <a:ext cx="3749040" cy="4206240"/>
          </a:xfrm>
          <a:prstGeom prst="rect">
            <a:avLst/>
          </a:prstGeom>
          <a:solidFill>
            <a:srgbClr val="0A0A0A"/>
          </a:solidFill>
          <a:ln cap="flat" cmpd="sng" w="12700">
            <a:solidFill>
              <a:srgbClr val="0A0A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5120640" y="68580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1B04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BD1B04"/>
                </a:solidFill>
                <a:latin typeface="Inter"/>
                <a:ea typeface="Inter"/>
                <a:cs typeface="Inter"/>
                <a:sym typeface="Inter"/>
              </a:rPr>
              <a:t>The Cost of Skipping This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120650" y="1143000"/>
            <a:ext cx="3566100" cy="914400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5120640" y="1143000"/>
            <a:ext cx="45720" cy="914400"/>
          </a:xfrm>
          <a:prstGeom prst="rect">
            <a:avLst/>
          </a:prstGeom>
          <a:solidFill>
            <a:srgbClr val="BD1B04"/>
          </a:solidFill>
          <a:ln cap="flat" cmpd="sng" w="12700">
            <a:solidFill>
              <a:srgbClr val="BD1B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5285232" y="1252728"/>
            <a:ext cx="33832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The most common startup failure is building something nobody wanted.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5120650" y="2240275"/>
            <a:ext cx="3566100" cy="914400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5120640" y="2240280"/>
            <a:ext cx="45720" cy="914400"/>
          </a:xfrm>
          <a:prstGeom prst="rect">
            <a:avLst/>
          </a:prstGeom>
          <a:solidFill>
            <a:srgbClr val="BD1B04"/>
          </a:solidFill>
          <a:ln cap="flat" cmpd="sng" w="12700">
            <a:solidFill>
              <a:srgbClr val="BD1B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5285232" y="2350008"/>
            <a:ext cx="33832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Fixing a wrong assumption post-launch costs far more than validating it upfront.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5120650" y="3337550"/>
            <a:ext cx="3566100" cy="914400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5120640" y="3337560"/>
            <a:ext cx="45720" cy="914400"/>
          </a:xfrm>
          <a:prstGeom prst="rect">
            <a:avLst/>
          </a:prstGeom>
          <a:solidFill>
            <a:srgbClr val="BD1B04"/>
          </a:solidFill>
          <a:ln cap="flat" cmpd="sng" w="12700">
            <a:solidFill>
              <a:srgbClr val="BD1B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5285232" y="3447288"/>
            <a:ext cx="33832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5 to 8 honest customer conversations is enough to spot a real pattern.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BD1B04"/>
          </a:solidFill>
          <a:ln cap="flat" cmpd="sng" w="12700">
            <a:solidFill>
              <a:srgbClr val="BD1B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/>
          <p:nvPr/>
        </p:nvSpPr>
        <p:spPr>
          <a:xfrm>
            <a:off x="5029200" y="-457200"/>
            <a:ext cx="4572000" cy="60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6000"/>
              <a:buFont typeface="Inter"/>
              <a:buNone/>
            </a:pPr>
            <a:r>
              <a:rPr b="1" i="0" lang="en-US" sz="26000" u="none" cap="none" strike="noStrike">
                <a:solidFill>
                  <a:srgbClr val="2D2D2D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2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D1B04"/>
          </a:solidFill>
          <a:ln cap="flat" cmpd="sng" w="12700">
            <a:solidFill>
              <a:srgbClr val="BD1B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1B04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BD1B04"/>
                </a:solidFill>
                <a:latin typeface="Inter"/>
                <a:ea typeface="Inter"/>
                <a:cs typeface="Inter"/>
                <a:sym typeface="Inter"/>
              </a:rPr>
              <a:t>THE FRAMEWORK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548640" y="1874520"/>
            <a:ext cx="64008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Inter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Four steps.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Inter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One clear output.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548640" y="411480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1B04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BD1B04"/>
                </a:solidFill>
                <a:latin typeface="Inter"/>
                <a:ea typeface="Inter"/>
                <a:cs typeface="Inter"/>
                <a:sym typeface="Inter"/>
              </a:rPr>
              <a:t>01  Hypotheses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2697480" y="411480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02  Rank by Risk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4846320" y="411480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03  Mom Test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6995160" y="411480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04  Questions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9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D1B04"/>
          </a:solidFill>
          <a:ln cap="flat" cmpd="sng" w="12700">
            <a:solidFill>
              <a:srgbClr val="BD1B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1B04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BD1B04"/>
                </a:solidFill>
                <a:latin typeface="Inter"/>
                <a:ea typeface="Inter"/>
                <a:cs typeface="Inter"/>
                <a:sym typeface="Inter"/>
              </a:rPr>
              <a:t>STEP 01  —  GENERATE HYPOTHESES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457200" y="475500"/>
            <a:ext cx="66519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Every product is built on assumptions.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Write them down before they become </a:t>
            </a:r>
            <a:r>
              <a:rPr b="1" i="0" lang="en-US" sz="2000" u="none" cap="none" strike="noStrike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d</a:t>
            </a:r>
            <a:r>
              <a:rPr b="1" i="0" lang="en-US" sz="2000" u="none" cap="none" strike="noStrike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ecisions.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457200" y="1417320"/>
            <a:ext cx="1280160" cy="292608"/>
          </a:xfrm>
          <a:prstGeom prst="rect">
            <a:avLst/>
          </a:prstGeom>
          <a:solidFill>
            <a:srgbClr val="0A0A0A"/>
          </a:solidFill>
          <a:ln cap="flat" cmpd="sng" w="12700">
            <a:solidFill>
              <a:srgbClr val="0A0A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457200" y="1435608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UBER EXAMPLE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457200" y="1810512"/>
            <a:ext cx="1920240" cy="2834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457200" y="1810512"/>
            <a:ext cx="1920240" cy="54864"/>
          </a:xfrm>
          <a:prstGeom prst="rect">
            <a:avLst/>
          </a:prstGeom>
          <a:solidFill>
            <a:srgbClr val="BD1B04"/>
          </a:solidFill>
          <a:ln cap="flat" cmpd="sng" w="12700">
            <a:solidFill>
              <a:srgbClr val="BD1B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566928" y="1975104"/>
            <a:ext cx="384048" cy="384048"/>
          </a:xfrm>
          <a:prstGeom prst="ellipse">
            <a:avLst/>
          </a:prstGeom>
          <a:solidFill>
            <a:srgbClr val="0A0A0A"/>
          </a:solidFill>
          <a:ln cap="flat" cmpd="sng" w="12700">
            <a:solidFill>
              <a:srgbClr val="0A0A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" name="Google Shape;7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" y="202996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4"/>
          <p:cNvSpPr/>
          <p:nvPr/>
        </p:nvSpPr>
        <p:spPr>
          <a:xfrm>
            <a:off x="530352" y="2432304"/>
            <a:ext cx="17739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1B04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BD1B04"/>
                </a:solidFill>
                <a:latin typeface="Inter"/>
                <a:ea typeface="Inter"/>
                <a:cs typeface="Inter"/>
                <a:sym typeface="Inter"/>
              </a:rPr>
              <a:t>CUSTOMER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530352" y="2724912"/>
            <a:ext cx="1773936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"Urban professionals aged 25–40 struggle to find reliable transport late at night."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2542032" y="1810512"/>
            <a:ext cx="1920240" cy="2834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2542032" y="1810512"/>
            <a:ext cx="1920240" cy="54864"/>
          </a:xfrm>
          <a:prstGeom prst="rect">
            <a:avLst/>
          </a:prstGeom>
          <a:solidFill>
            <a:srgbClr val="BD1B04"/>
          </a:solidFill>
          <a:ln cap="flat" cmpd="sng" w="12700">
            <a:solidFill>
              <a:srgbClr val="BD1B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2651760" y="1975104"/>
            <a:ext cx="384048" cy="384048"/>
          </a:xfrm>
          <a:prstGeom prst="ellipse">
            <a:avLst/>
          </a:prstGeom>
          <a:solidFill>
            <a:srgbClr val="0A0A0A"/>
          </a:solidFill>
          <a:ln cap="flat" cmpd="sng" w="12700">
            <a:solidFill>
              <a:srgbClr val="0A0A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6" name="Google Shape;7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06624" y="202996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4"/>
          <p:cNvSpPr/>
          <p:nvPr/>
        </p:nvSpPr>
        <p:spPr>
          <a:xfrm>
            <a:off x="2615184" y="2432304"/>
            <a:ext cx="17739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1B04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BD1B04"/>
                </a:solidFill>
                <a:latin typeface="Inter"/>
                <a:ea typeface="Inter"/>
                <a:cs typeface="Inter"/>
                <a:sym typeface="Inter"/>
              </a:rPr>
              <a:t>PROBLEM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2615184" y="2724912"/>
            <a:ext cx="1773936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"Hailing a cab is unreliable, opaque on pricing, and feels unsafe for solo riders."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4626864" y="1810512"/>
            <a:ext cx="1920240" cy="2834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4626864" y="1810512"/>
            <a:ext cx="1920240" cy="54864"/>
          </a:xfrm>
          <a:prstGeom prst="rect">
            <a:avLst/>
          </a:prstGeom>
          <a:solidFill>
            <a:srgbClr val="BD1B04"/>
          </a:solidFill>
          <a:ln cap="flat" cmpd="sng" w="12700">
            <a:solidFill>
              <a:srgbClr val="BD1B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4736592" y="1975104"/>
            <a:ext cx="384048" cy="384048"/>
          </a:xfrm>
          <a:prstGeom prst="ellipse">
            <a:avLst/>
          </a:prstGeom>
          <a:solidFill>
            <a:srgbClr val="0A0A0A"/>
          </a:solidFill>
          <a:ln cap="flat" cmpd="sng" w="12700">
            <a:solidFill>
              <a:srgbClr val="0A0A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2" name="Google Shape;8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91456" y="202996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4"/>
          <p:cNvSpPr/>
          <p:nvPr/>
        </p:nvSpPr>
        <p:spPr>
          <a:xfrm>
            <a:off x="4700016" y="2432304"/>
            <a:ext cx="17739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1B04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BD1B04"/>
                </a:solidFill>
                <a:latin typeface="Inter"/>
                <a:ea typeface="Inter"/>
                <a:cs typeface="Inter"/>
                <a:sym typeface="Inter"/>
              </a:rPr>
              <a:t>MARKET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4700016" y="2724912"/>
            <a:ext cx="1773936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"Smartphone penetration in US cities is high enough for a mobile-first booking experience."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6711696" y="1810512"/>
            <a:ext cx="1920240" cy="2834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6711696" y="1810512"/>
            <a:ext cx="1920240" cy="54864"/>
          </a:xfrm>
          <a:prstGeom prst="rect">
            <a:avLst/>
          </a:prstGeom>
          <a:solidFill>
            <a:srgbClr val="BD1B04"/>
          </a:solidFill>
          <a:ln cap="flat" cmpd="sng" w="12700">
            <a:solidFill>
              <a:srgbClr val="BD1B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6821424" y="1975104"/>
            <a:ext cx="384048" cy="384048"/>
          </a:xfrm>
          <a:prstGeom prst="ellipse">
            <a:avLst/>
          </a:prstGeom>
          <a:solidFill>
            <a:srgbClr val="0A0A0A"/>
          </a:solidFill>
          <a:ln cap="flat" cmpd="sng" w="12700">
            <a:solidFill>
              <a:srgbClr val="0A0A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8" name="Google Shape;88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76288" y="202996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4"/>
          <p:cNvSpPr/>
          <p:nvPr/>
        </p:nvSpPr>
        <p:spPr>
          <a:xfrm>
            <a:off x="6784848" y="2432304"/>
            <a:ext cx="17739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1B04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BD1B04"/>
                </a:solidFill>
                <a:latin typeface="Inter"/>
                <a:ea typeface="Inter"/>
                <a:cs typeface="Inter"/>
                <a:sym typeface="Inter"/>
              </a:rPr>
              <a:t>SOLUTION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6784848" y="2724912"/>
            <a:ext cx="1773936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"Riders will pay a premium for transparent pricing, GPS tracking, and rated drivers."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457200" y="479602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We believe [X] is true. We have [strong / weak] evidence for this.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9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D1B04"/>
          </a:solidFill>
          <a:ln cap="flat" cmpd="sng" w="12700">
            <a:solidFill>
              <a:srgbClr val="BD1B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1B04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BD1B04"/>
                </a:solidFill>
                <a:latin typeface="Inter"/>
                <a:ea typeface="Inter"/>
                <a:cs typeface="Inter"/>
                <a:sym typeface="Inter"/>
              </a:rPr>
              <a:t>STEP 02  —  RANK BY RISK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457200" y="475488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Not all assumptions are equal.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Ask: which one, if wrong, kills the business?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457200" y="1417320"/>
            <a:ext cx="8229600" cy="987552"/>
          </a:xfrm>
          <a:prstGeom prst="rect">
            <a:avLst/>
          </a:prstGeom>
          <a:solidFill>
            <a:srgbClr val="0A0A0A"/>
          </a:solidFill>
          <a:ln cap="flat" cmpd="sng" w="12700">
            <a:solidFill>
              <a:srgbClr val="0A0A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457200" y="1417320"/>
            <a:ext cx="54864" cy="987552"/>
          </a:xfrm>
          <a:prstGeom prst="rect">
            <a:avLst/>
          </a:prstGeom>
          <a:solidFill>
            <a:srgbClr val="BD1B04"/>
          </a:solidFill>
          <a:ln cap="flat" cmpd="sng" w="12700">
            <a:solidFill>
              <a:srgbClr val="BD1B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621792" y="1527048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1B04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BD1B04"/>
                </a:solidFill>
                <a:latin typeface="Inter"/>
                <a:ea typeface="Inter"/>
                <a:cs typeface="Inter"/>
                <a:sym typeface="Inter"/>
              </a:rPr>
              <a:t>CRITICAL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621792" y="1819656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If wrong — the business model breaks. Test these first.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4206240" y="1527048"/>
            <a:ext cx="36576" cy="768096"/>
          </a:xfrm>
          <a:prstGeom prst="rect">
            <a:avLst/>
          </a:prstGeom>
          <a:solidFill>
            <a:srgbClr val="6B7280"/>
          </a:solidFill>
          <a:ln cap="flat" cmpd="sng" w="12700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4389120" y="1527048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1B04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BD1B04"/>
                </a:solidFill>
                <a:latin typeface="Inter"/>
                <a:ea typeface="Inter"/>
                <a:cs typeface="Inter"/>
                <a:sym typeface="Inter"/>
              </a:rPr>
              <a:t>UBER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4389120" y="1783080"/>
            <a:ext cx="4206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"Riders will pay more for reliability than they pay for a cab today."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457200" y="2514600"/>
            <a:ext cx="8229600" cy="987552"/>
          </a:xfrm>
          <a:prstGeom prst="rect">
            <a:avLst/>
          </a:prstGeom>
          <a:solidFill>
            <a:srgbClr val="1C1C1C"/>
          </a:solidFill>
          <a:ln cap="flat" cmpd="sng" w="12700">
            <a:solidFill>
              <a:srgbClr val="1C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457200" y="2514600"/>
            <a:ext cx="54864" cy="987552"/>
          </a:xfrm>
          <a:prstGeom prst="rect">
            <a:avLst/>
          </a:prstGeom>
          <a:solidFill>
            <a:srgbClr val="FFA500"/>
          </a:solidFill>
          <a:ln cap="flat" cmpd="sng" w="12700">
            <a:solidFill>
              <a:srgbClr val="FF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621792" y="2624328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A500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FA500"/>
                </a:solidFill>
                <a:latin typeface="Inter"/>
                <a:ea typeface="Inter"/>
                <a:cs typeface="Inter"/>
                <a:sym typeface="Inter"/>
              </a:rPr>
              <a:t>IMPORTANT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621792" y="2916936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If wrong — significant pivots required. Test these second.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4206240" y="2624328"/>
            <a:ext cx="36576" cy="768096"/>
          </a:xfrm>
          <a:prstGeom prst="rect">
            <a:avLst/>
          </a:prstGeom>
          <a:solidFill>
            <a:srgbClr val="6B7280"/>
          </a:solidFill>
          <a:ln cap="flat" cmpd="sng" w="12700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4389120" y="2624328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1B04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BD1B04"/>
                </a:solidFill>
                <a:latin typeface="Inter"/>
                <a:ea typeface="Inter"/>
                <a:cs typeface="Inter"/>
                <a:sym typeface="Inter"/>
              </a:rPr>
              <a:t>UBER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4389120" y="2880360"/>
            <a:ext cx="4206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"Drivers will join a platform with no guaranteed hours."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457200" y="3611880"/>
            <a:ext cx="8229600" cy="987552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457200" y="3611880"/>
            <a:ext cx="54864" cy="987552"/>
          </a:xfrm>
          <a:prstGeom prst="rect">
            <a:avLst/>
          </a:prstGeom>
          <a:solidFill>
            <a:srgbClr val="6B7280"/>
          </a:solidFill>
          <a:ln cap="flat" cmpd="sng" w="12700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621792" y="3721608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WORTH MONITORING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621792" y="4014216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If wrong — adjustments needed, but the business survives.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4206240" y="3721608"/>
            <a:ext cx="36576" cy="768096"/>
          </a:xfrm>
          <a:prstGeom prst="rect">
            <a:avLst/>
          </a:prstGeom>
          <a:solidFill>
            <a:srgbClr val="6B7280"/>
          </a:solidFill>
          <a:ln cap="flat" cmpd="sng" w="12700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4389120" y="3721608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1B04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BD1B04"/>
                </a:solidFill>
                <a:latin typeface="Inter"/>
                <a:ea typeface="Inter"/>
                <a:cs typeface="Inter"/>
                <a:sym typeface="Inter"/>
              </a:rPr>
              <a:t>UBER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4389120" y="3977640"/>
            <a:ext cx="4206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"Riders prefer in-app payments over cash."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457200" y="479602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The hypothesis that scares you most to be wrong about</a:t>
            </a:r>
            <a:r>
              <a:rPr i="1"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r>
              <a:rPr b="0" i="1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that goes to the top.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D1B04"/>
          </a:solidFill>
          <a:ln cap="flat" cmpd="sng" w="12700">
            <a:solidFill>
              <a:srgbClr val="BD1B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548640" y="20116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1B04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BD1B04"/>
                </a:solidFill>
                <a:latin typeface="Inter"/>
                <a:ea typeface="Inter"/>
                <a:cs typeface="Inter"/>
                <a:sym typeface="Inter"/>
              </a:rPr>
              <a:t>STEP 03  —  THE MOM TEST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548640" y="530352"/>
            <a:ext cx="7315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If you ask your mom if your idea is good,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she'll say yes. So will most customers.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548640" y="1645920"/>
            <a:ext cx="8138160" cy="969264"/>
          </a:xfrm>
          <a:prstGeom prst="rect">
            <a:avLst/>
          </a:prstGeom>
          <a:solidFill>
            <a:srgbClr val="2D2D2D"/>
          </a:solidFill>
          <a:ln cap="flat" cmpd="sng" w="12700">
            <a:solidFill>
              <a:srgbClr val="2D2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640073" y="1719075"/>
            <a:ext cx="669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1B04"/>
              </a:buClr>
              <a:buSzPts val="2600"/>
              <a:buFont typeface="Inter"/>
              <a:buNone/>
            </a:pPr>
            <a:r>
              <a:rPr b="1" i="0" lang="en-US" sz="2600" u="none" cap="none" strike="noStrike">
                <a:solidFill>
                  <a:srgbClr val="BD1B04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1234440" y="1737360"/>
            <a:ext cx="5029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Ask about their life, not your idea.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1234440" y="2084832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444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C4444"/>
                </a:solidFill>
                <a:latin typeface="Calibri"/>
                <a:ea typeface="Calibri"/>
                <a:cs typeface="Calibri"/>
                <a:sym typeface="Calibri"/>
              </a:rPr>
              <a:t>✗ </a:t>
            </a:r>
            <a:r>
              <a:rPr b="0" i="1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Would you use an app that books rides on demand?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4572000" y="2084832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AA6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4AA66"/>
                </a:solidFill>
                <a:latin typeface="Calibri"/>
                <a:ea typeface="Calibri"/>
                <a:cs typeface="Calibri"/>
                <a:sym typeface="Calibri"/>
              </a:rPr>
              <a:t>✓ </a:t>
            </a:r>
            <a:r>
              <a:rPr b="0" i="1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Walk me through the last time you needed a ride late at night. What happened?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548640" y="2724912"/>
            <a:ext cx="8138160" cy="969264"/>
          </a:xfrm>
          <a:prstGeom prst="rect">
            <a:avLst/>
          </a:prstGeom>
          <a:solidFill>
            <a:srgbClr val="2D2D2D"/>
          </a:solidFill>
          <a:ln cap="flat" cmpd="sng" w="12700">
            <a:solidFill>
              <a:srgbClr val="2D2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640075" y="2798075"/>
            <a:ext cx="669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1B04"/>
              </a:buClr>
              <a:buSzPts val="2600"/>
              <a:buFont typeface="Inter"/>
              <a:buNone/>
            </a:pPr>
            <a:r>
              <a:rPr b="1" i="0" lang="en-US" sz="2600" u="none" cap="none" strike="noStrike">
                <a:solidFill>
                  <a:srgbClr val="BD1B04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1234440" y="2816352"/>
            <a:ext cx="5029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Ask about specifics, not hypotheticals.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1234440" y="3163824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444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C4444"/>
                </a:solidFill>
                <a:latin typeface="Calibri"/>
                <a:ea typeface="Calibri"/>
                <a:cs typeface="Calibri"/>
                <a:sym typeface="Calibri"/>
              </a:rPr>
              <a:t>✗ </a:t>
            </a:r>
            <a:r>
              <a:rPr b="0" i="1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Would you pay more for a reliable taxi?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4572000" y="3163824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AA6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4AA66"/>
                </a:solidFill>
                <a:latin typeface="Calibri"/>
                <a:ea typeface="Calibri"/>
                <a:cs typeface="Calibri"/>
                <a:sym typeface="Calibri"/>
              </a:rPr>
              <a:t>✓ </a:t>
            </a:r>
            <a:r>
              <a:rPr b="0" i="1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Have you ever paid a surge price to get home faster? What was happening?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548640" y="3803904"/>
            <a:ext cx="8138160" cy="969264"/>
          </a:xfrm>
          <a:prstGeom prst="rect">
            <a:avLst/>
          </a:prstGeom>
          <a:solidFill>
            <a:srgbClr val="2D2D2D"/>
          </a:solidFill>
          <a:ln cap="flat" cmpd="sng" w="12700">
            <a:solidFill>
              <a:srgbClr val="2D2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640074" y="3877050"/>
            <a:ext cx="669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1B04"/>
              </a:buClr>
              <a:buSzPts val="2600"/>
              <a:buFont typeface="Inter"/>
              <a:buNone/>
            </a:pPr>
            <a:r>
              <a:rPr b="1" i="0" lang="en-US" sz="2600" u="none" cap="none" strike="noStrike">
                <a:solidFill>
                  <a:srgbClr val="BD1B04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1234440" y="3895344"/>
            <a:ext cx="5029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Listen for the problem, not the solution.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1234440" y="4242816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444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C4444"/>
                </a:solidFill>
                <a:latin typeface="Calibri"/>
                <a:ea typeface="Calibri"/>
                <a:cs typeface="Calibri"/>
                <a:sym typeface="Calibri"/>
              </a:rPr>
              <a:t>✗ </a:t>
            </a:r>
            <a:r>
              <a:rPr b="0" i="1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What do you think of the idea of GPS-tracked drivers?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4572000" y="4242816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AA6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4AA66"/>
                </a:solidFill>
                <a:latin typeface="Calibri"/>
                <a:ea typeface="Calibri"/>
                <a:cs typeface="Calibri"/>
                <a:sym typeface="Calibri"/>
              </a:rPr>
              <a:t>✓ </a:t>
            </a:r>
            <a:r>
              <a:rPr b="0" i="1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What's the most frustrating part about getting around the city right now?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9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D1B04"/>
          </a:solidFill>
          <a:ln cap="flat" cmpd="sng" w="12700">
            <a:solidFill>
              <a:srgbClr val="BD1B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1B04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BD1B04"/>
                </a:solidFill>
                <a:latin typeface="Inter"/>
                <a:ea typeface="Inter"/>
                <a:cs typeface="Inter"/>
                <a:sym typeface="Inter"/>
              </a:rPr>
              <a:t>STEP 04  —  THE INTERVIEW FLOW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457200" y="475488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Questions follow the customer's natural flow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— not your hypothesis categories.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502920" y="1417320"/>
            <a:ext cx="1261872" cy="1417320"/>
          </a:xfrm>
          <a:prstGeom prst="rect">
            <a:avLst/>
          </a:prstGeom>
          <a:solidFill>
            <a:srgbClr val="0A0A0A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502920" y="1417320"/>
            <a:ext cx="1261872" cy="45720"/>
          </a:xfrm>
          <a:prstGeom prst="rect">
            <a:avLst/>
          </a:prstGeom>
          <a:solidFill>
            <a:srgbClr val="BD1B04"/>
          </a:solidFill>
          <a:ln cap="flat" cmpd="sng" w="12700">
            <a:solidFill>
              <a:srgbClr val="BD1B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576072" y="15087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1B04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BD1B04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576072" y="1874520"/>
            <a:ext cx="115214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Opening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576072" y="2221992"/>
            <a:ext cx="115214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Build rapport.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No agenda yet.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1792224" y="2107692"/>
            <a:ext cx="146304" cy="36576"/>
          </a:xfrm>
          <a:prstGeom prst="rect">
            <a:avLst/>
          </a:prstGeom>
          <a:solidFill>
            <a:srgbClr val="BD1B04"/>
          </a:solidFill>
          <a:ln cap="flat" cmpd="sng" w="12700">
            <a:solidFill>
              <a:srgbClr val="BD1B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1938528" y="1417320"/>
            <a:ext cx="1261872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1938528" y="1417320"/>
            <a:ext cx="1261872" cy="45720"/>
          </a:xfrm>
          <a:prstGeom prst="rect">
            <a:avLst/>
          </a:prstGeom>
          <a:solidFill>
            <a:srgbClr val="BD1B04"/>
          </a:solidFill>
          <a:ln cap="flat" cmpd="sng" w="12700">
            <a:solidFill>
              <a:srgbClr val="BD1B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2011674" y="1508750"/>
            <a:ext cx="592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1B04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BD1B04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2011680" y="1874520"/>
            <a:ext cx="115214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Problem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2011680" y="2221992"/>
            <a:ext cx="115214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What breaks down?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How often?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3227832" y="2107692"/>
            <a:ext cx="146304" cy="36576"/>
          </a:xfrm>
          <a:prstGeom prst="rect">
            <a:avLst/>
          </a:prstGeom>
          <a:solidFill>
            <a:srgbClr val="BD1B04"/>
          </a:solidFill>
          <a:ln cap="flat" cmpd="sng" w="12700">
            <a:solidFill>
              <a:srgbClr val="BD1B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3374136" y="1417320"/>
            <a:ext cx="1261872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3374136" y="1417320"/>
            <a:ext cx="1261872" cy="45720"/>
          </a:xfrm>
          <a:prstGeom prst="rect">
            <a:avLst/>
          </a:prstGeom>
          <a:solidFill>
            <a:srgbClr val="BD1B04"/>
          </a:solidFill>
          <a:ln cap="flat" cmpd="sng" w="12700">
            <a:solidFill>
              <a:srgbClr val="BD1B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3447305" y="1508750"/>
            <a:ext cx="619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1B04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BD1B04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3447288" y="1874520"/>
            <a:ext cx="115214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Behavior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3447288" y="2221992"/>
            <a:ext cx="115214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What do they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do today?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4663440" y="2107692"/>
            <a:ext cx="146304" cy="36576"/>
          </a:xfrm>
          <a:prstGeom prst="rect">
            <a:avLst/>
          </a:prstGeom>
          <a:solidFill>
            <a:srgbClr val="BD1B04"/>
          </a:solidFill>
          <a:ln cap="flat" cmpd="sng" w="12700">
            <a:solidFill>
              <a:srgbClr val="BD1B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4809744" y="1417320"/>
            <a:ext cx="1261872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4809744" y="1417320"/>
            <a:ext cx="1261872" cy="45720"/>
          </a:xfrm>
          <a:prstGeom prst="rect">
            <a:avLst/>
          </a:prstGeom>
          <a:solidFill>
            <a:srgbClr val="BD1B04"/>
          </a:solidFill>
          <a:ln cap="flat" cmpd="sng" w="12700">
            <a:solidFill>
              <a:srgbClr val="BD1B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4882902" y="1508750"/>
            <a:ext cx="723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1B04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BD1B04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4882896" y="1874520"/>
            <a:ext cx="115214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Market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4882896" y="2221992"/>
            <a:ext cx="115214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What has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changed recently?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6099048" y="2107692"/>
            <a:ext cx="146304" cy="36576"/>
          </a:xfrm>
          <a:prstGeom prst="rect">
            <a:avLst/>
          </a:prstGeom>
          <a:solidFill>
            <a:srgbClr val="BD1B04"/>
          </a:solidFill>
          <a:ln cap="flat" cmpd="sng" w="12700">
            <a:solidFill>
              <a:srgbClr val="BD1B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6245352" y="1417320"/>
            <a:ext cx="1261872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6245352" y="1417320"/>
            <a:ext cx="1261872" cy="45720"/>
          </a:xfrm>
          <a:prstGeom prst="rect">
            <a:avLst/>
          </a:prstGeom>
          <a:solidFill>
            <a:srgbClr val="BD1B04"/>
          </a:solidFill>
          <a:ln cap="flat" cmpd="sng" w="12700">
            <a:solidFill>
              <a:srgbClr val="BD1B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6318498" y="1508750"/>
            <a:ext cx="723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1B04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BD1B04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6318504" y="1874520"/>
            <a:ext cx="115214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Solution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6318504" y="2221992"/>
            <a:ext cx="115214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What have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they tried?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7534656" y="2107692"/>
            <a:ext cx="146304" cy="36576"/>
          </a:xfrm>
          <a:prstGeom prst="rect">
            <a:avLst/>
          </a:prstGeom>
          <a:solidFill>
            <a:srgbClr val="BD1B04"/>
          </a:solidFill>
          <a:ln cap="flat" cmpd="sng" w="12700">
            <a:solidFill>
              <a:srgbClr val="BD1B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7680960" y="1417320"/>
            <a:ext cx="1261872" cy="1417320"/>
          </a:xfrm>
          <a:prstGeom prst="rect">
            <a:avLst/>
          </a:prstGeom>
          <a:solidFill>
            <a:srgbClr val="0A0A0A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7680960" y="1417320"/>
            <a:ext cx="1261872" cy="45720"/>
          </a:xfrm>
          <a:prstGeom prst="rect">
            <a:avLst/>
          </a:prstGeom>
          <a:solidFill>
            <a:srgbClr val="BD1B04"/>
          </a:solidFill>
          <a:ln cap="flat" cmpd="sng" w="12700">
            <a:solidFill>
              <a:srgbClr val="BD1B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7754093" y="1508750"/>
            <a:ext cx="723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1B04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BD1B04"/>
                </a:solidFill>
                <a:latin typeface="Inter"/>
                <a:ea typeface="Inter"/>
                <a:cs typeface="Inter"/>
                <a:sym typeface="Inter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7754112" y="1874520"/>
            <a:ext cx="115214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Closing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7754112" y="2221992"/>
            <a:ext cx="115214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Surprises.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Referrals.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457200" y="2999232"/>
            <a:ext cx="8229600" cy="1536192"/>
          </a:xfrm>
          <a:prstGeom prst="rect">
            <a:avLst/>
          </a:prstGeom>
          <a:solidFill>
            <a:srgbClr val="0A0A0A"/>
          </a:solidFill>
          <a:ln cap="flat" cmpd="sng" w="12700">
            <a:solidFill>
              <a:srgbClr val="0A0A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457200" y="2999232"/>
            <a:ext cx="54864" cy="1536192"/>
          </a:xfrm>
          <a:prstGeom prst="rect">
            <a:avLst/>
          </a:prstGeom>
          <a:solidFill>
            <a:srgbClr val="BD1B04"/>
          </a:solidFill>
          <a:ln cap="flat" cmpd="sng" w="12700">
            <a:solidFill>
              <a:srgbClr val="BD1B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621792" y="312724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1B04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BD1B04"/>
                </a:solidFill>
                <a:latin typeface="Inter"/>
                <a:ea typeface="Inter"/>
                <a:cs typeface="Inter"/>
                <a:sym typeface="Inter"/>
              </a:rPr>
              <a:t>THE RULE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621792" y="3429000"/>
            <a:ext cx="7955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Never ask solution questions before you understand the problem.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If you find yourself pitching</a:t>
            </a:r>
            <a:r>
              <a:rPr i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1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stop. You have left discovery.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9F9F9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D1B04"/>
          </a:solidFill>
          <a:ln cap="flat" cmpd="sng" w="12700">
            <a:solidFill>
              <a:srgbClr val="BD1B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1B04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BD1B04"/>
                </a:solidFill>
                <a:latin typeface="Inter"/>
                <a:ea typeface="Inter"/>
                <a:cs typeface="Inter"/>
                <a:sym typeface="Inter"/>
              </a:rPr>
              <a:t>YOUR TOOLKIT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We built two tools to run this process.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457200" y="1097280"/>
            <a:ext cx="3931920" cy="3611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457200" y="1097280"/>
            <a:ext cx="3931920" cy="64008"/>
          </a:xfrm>
          <a:prstGeom prst="rect">
            <a:avLst/>
          </a:prstGeom>
          <a:solidFill>
            <a:srgbClr val="BD1B04"/>
          </a:solidFill>
          <a:ln cap="flat" cmpd="sng" w="12700">
            <a:solidFill>
              <a:srgbClr val="BD1B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640080" y="1280160"/>
            <a:ext cx="502920" cy="502920"/>
          </a:xfrm>
          <a:prstGeom prst="ellipse">
            <a:avLst/>
          </a:prstGeom>
          <a:solidFill>
            <a:srgbClr val="0A0A0A"/>
          </a:solidFill>
          <a:ln cap="flat" cmpd="sng" w="12700">
            <a:solidFill>
              <a:srgbClr val="0A0A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3" name="Google Shape;20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376" y="1362456"/>
            <a:ext cx="338328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8"/>
          <p:cNvSpPr/>
          <p:nvPr/>
        </p:nvSpPr>
        <p:spPr>
          <a:xfrm>
            <a:off x="640080" y="1874520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1B04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BD1B04"/>
                </a:solidFill>
                <a:latin typeface="Inter"/>
                <a:ea typeface="Inter"/>
                <a:cs typeface="Inter"/>
                <a:sym typeface="Inter"/>
              </a:rPr>
              <a:t>AI SKILL  ·  UPLOAD TO CLAUDE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640080" y="2148840"/>
            <a:ext cx="3566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Customer Discovery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Coach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640080" y="2926080"/>
            <a:ext cx="35661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Generates hypotheses across all 4 categories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Ranks them by business risk — Critical first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Teaches the Mom Test rules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Produces interview questions in stage order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Works cold or warm (paste your interview notes)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4754880" y="1097280"/>
            <a:ext cx="3931920" cy="3611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4754880" y="1097280"/>
            <a:ext cx="3931920" cy="64008"/>
          </a:xfrm>
          <a:prstGeom prst="rect">
            <a:avLst/>
          </a:prstGeom>
          <a:solidFill>
            <a:srgbClr val="BD1B04"/>
          </a:solidFill>
          <a:ln cap="flat" cmpd="sng" w="12700">
            <a:solidFill>
              <a:srgbClr val="BD1B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4937760" y="1280160"/>
            <a:ext cx="502920" cy="502920"/>
          </a:xfrm>
          <a:prstGeom prst="ellipse">
            <a:avLst/>
          </a:prstGeom>
          <a:solidFill>
            <a:srgbClr val="0A0A0A"/>
          </a:solidFill>
          <a:ln cap="flat" cmpd="sng" w="12700">
            <a:solidFill>
              <a:srgbClr val="0A0A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0" name="Google Shape;21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0056" y="1362456"/>
            <a:ext cx="338328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8"/>
          <p:cNvSpPr/>
          <p:nvPr/>
        </p:nvSpPr>
        <p:spPr>
          <a:xfrm>
            <a:off x="4937760" y="1874520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1B04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BD1B04"/>
                </a:solidFill>
                <a:latin typeface="Inter"/>
                <a:ea typeface="Inter"/>
                <a:cs typeface="Inter"/>
                <a:sym typeface="Inter"/>
              </a:rPr>
              <a:t>EXCEL SPREADSHEET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4937760" y="2148840"/>
            <a:ext cx="3566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Customer Discovery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A0A0A"/>
                </a:solidFill>
                <a:latin typeface="Inter"/>
                <a:ea typeface="Inter"/>
                <a:cs typeface="Inter"/>
                <a:sym typeface="Inter"/>
              </a:rPr>
              <a:t>Tracker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4937760" y="2926080"/>
            <a:ext cx="35661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Enter hypotheses once — populates everywhere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Hypothesis Matrix: who validated what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Interviewee Overview: segment context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Question Log: same questions, every interview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Pattern Summary: auto-tallied outcomes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D1B04"/>
          </a:solidFill>
          <a:ln cap="flat" cmpd="sng" w="12700">
            <a:solidFill>
              <a:srgbClr val="BD1B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1B04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BD1B04"/>
                </a:solidFill>
                <a:latin typeface="Inter"/>
                <a:ea typeface="Inter"/>
                <a:cs typeface="Inter"/>
                <a:sym typeface="Inter"/>
              </a:rPr>
              <a:t>WHAT HAPPENS NEXT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548640" y="621792"/>
            <a:ext cx="77724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Inter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Start thinking.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Inter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Tools </a:t>
            </a:r>
            <a:r>
              <a:rPr b="1" lang="en-US" sz="2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coming soon</a:t>
            </a:r>
            <a:r>
              <a:rPr b="1" i="0" lang="en-US" sz="2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548640" y="1783080"/>
            <a:ext cx="8138160" cy="868680"/>
          </a:xfrm>
          <a:prstGeom prst="rect">
            <a:avLst/>
          </a:prstGeom>
          <a:solidFill>
            <a:srgbClr val="2D2D2D"/>
          </a:solidFill>
          <a:ln cap="flat" cmpd="sng" w="12700">
            <a:solidFill>
              <a:srgbClr val="2D2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548640" y="1783080"/>
            <a:ext cx="45720" cy="868680"/>
          </a:xfrm>
          <a:prstGeom prst="rect">
            <a:avLst/>
          </a:prstGeom>
          <a:solidFill>
            <a:srgbClr val="BD1B04"/>
          </a:solidFill>
          <a:ln cap="flat" cmpd="sng" w="12700">
            <a:solidFill>
              <a:srgbClr val="BD1B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713232" y="182880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1B04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BD1B04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1298448" y="185623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THIS WEEK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1298448" y="2167128"/>
            <a:ext cx="7223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Write down 5–8 assumptions about your customer, problem, market, and solution. Don't filter. Just write.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548640" y="2770632"/>
            <a:ext cx="8138160" cy="868680"/>
          </a:xfrm>
          <a:prstGeom prst="rect">
            <a:avLst/>
          </a:prstGeom>
          <a:solidFill>
            <a:srgbClr val="2D2D2D"/>
          </a:solidFill>
          <a:ln cap="flat" cmpd="sng" w="12700">
            <a:solidFill>
              <a:srgbClr val="2D2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548640" y="2770632"/>
            <a:ext cx="45720" cy="868680"/>
          </a:xfrm>
          <a:prstGeom prst="rect">
            <a:avLst/>
          </a:prstGeom>
          <a:solidFill>
            <a:srgbClr val="BD1B04"/>
          </a:solidFill>
          <a:ln cap="flat" cmpd="sng" w="12700">
            <a:solidFill>
              <a:srgbClr val="BD1B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713223" y="2816350"/>
            <a:ext cx="644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1B04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BD1B04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1298448" y="284378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FRIDAY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1298448" y="3154680"/>
            <a:ext cx="7223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You will receive the Customer Discovery Coach </a:t>
            </a:r>
            <a:r>
              <a:rPr lang="en-US" sz="1100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ai skills and instructions</a:t>
            </a: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sz="1100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This can help you use a chatbot or agent to decipher product incites.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548640" y="3758184"/>
            <a:ext cx="8138160" cy="868680"/>
          </a:xfrm>
          <a:prstGeom prst="rect">
            <a:avLst/>
          </a:prstGeom>
          <a:solidFill>
            <a:srgbClr val="2D2D2D"/>
          </a:solidFill>
          <a:ln cap="flat" cmpd="sng" w="12700">
            <a:solidFill>
              <a:srgbClr val="2D2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548640" y="3758184"/>
            <a:ext cx="45720" cy="868680"/>
          </a:xfrm>
          <a:prstGeom prst="rect">
            <a:avLst/>
          </a:prstGeom>
          <a:solidFill>
            <a:srgbClr val="BD1B04"/>
          </a:solidFill>
          <a:ln cap="flat" cmpd="sng" w="12700">
            <a:solidFill>
              <a:srgbClr val="BD1B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713222" y="3803900"/>
            <a:ext cx="729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1B04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BD1B04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1298448" y="383133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NEXT WEEK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1298448" y="4142232"/>
            <a:ext cx="7223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Run 5 customer interviews using your guide. Log every response. Come back with what you learned.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548640" y="4549140"/>
            <a:ext cx="8138160" cy="347472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640080" y="4576572"/>
            <a:ext cx="7955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Customer Discovery  →  JTBD Coach  →  Prioritizer  →  Product Requirements Document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2026-06-04T13:25:07Z</dcterms:created>
  <dc:creator>PptxGenJS</dc:creator>
</cp:coreProperties>
</file>